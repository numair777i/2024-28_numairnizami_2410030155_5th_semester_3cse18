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7A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D7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56248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30" b="1">
                <a:solidFill>
                  <a:srgbClr val="5E6C7D"/>
                </a:solidFill>
                <a:latin typeface="Aptos"/>
              </a:defRPr>
            </a:pPr>
            <a:r>
              <a:t>AICTE • EDUSKILLS • JAVA FULL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52881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1">
                <a:solidFill>
                  <a:srgbClr val="27A5AB"/>
                </a:solidFill>
                <a:latin typeface="Aptos"/>
              </a:defRPr>
            </a:pPr>
            <a:r>
              <a:t>01</a:t>
            </a:r>
          </a:p>
        </p:txBody>
      </p:sp>
      <p:pic>
        <p:nvPicPr>
          <p:cNvPr id="6" name="Picture 5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457200"/>
            <a:ext cx="4754880" cy="10145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182880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27A5AB"/>
                </a:solidFill>
                <a:latin typeface="Aptos"/>
              </a:defRPr>
            </a:pPr>
            <a:r>
              <a:t>AICTE – EDUSKILLS VIRTUAL INTERNSHIP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12848"/>
            <a:ext cx="73152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1D3152"/>
                </a:solidFill>
                <a:latin typeface="Aptos Display"/>
              </a:defRPr>
            </a:pPr>
            <a:r>
              <a:t>Java Full Stack</a:t>
            </a:r>
            <a:br/>
            <a:r>
              <a:t>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>
                <a:solidFill>
                  <a:srgbClr val="5E6C7D"/>
                </a:solidFill>
                <a:latin typeface="Aptos"/>
              </a:defRPr>
            </a:pPr>
            <a:r>
              <a:t>Professional Internship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51960"/>
            <a:ext cx="5440680" cy="1234440"/>
          </a:xfrm>
          <a:prstGeom prst="roundRect">
            <a:avLst/>
          </a:prstGeom>
          <a:solidFill>
            <a:srgbClr val="1D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498848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NUMAIR NIZAMI  •  STU69e1f231956b81776415281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864608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80" b="0">
                <a:solidFill>
                  <a:srgbClr val="CDD9E6"/>
                </a:solidFill>
                <a:latin typeface="Aptos"/>
              </a:defRPr>
            </a:pPr>
            <a:r>
              <a:t>B.Tech CSE  |  IILM University, Greater Noida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1645920"/>
            <a:ext cx="2971800" cy="3657600"/>
          </a:xfrm>
          <a:prstGeom prst="roundRect">
            <a:avLst/>
          </a:prstGeom>
          <a:solidFill>
            <a:srgbClr val="1D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20" y="19659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JAVA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87968" y="2606040"/>
            <a:ext cx="384048" cy="384048"/>
          </a:xfrm>
          <a:prstGeom prst="roundRect">
            <a:avLst/>
          </a:prstGeom>
          <a:solidFill>
            <a:srgbClr val="71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87968" y="2697480"/>
            <a:ext cx="38404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1D3152"/>
                </a:solidFill>
                <a:latin typeface="Aptos"/>
              </a:defRPr>
            </a:pPr>
            <a:r>
              <a:t>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697480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87968" y="3172968"/>
            <a:ext cx="384048" cy="384048"/>
          </a:xfrm>
          <a:prstGeom prst="roundRect">
            <a:avLst/>
          </a:prstGeom>
          <a:solidFill>
            <a:srgbClr val="27A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87968" y="3264408"/>
            <a:ext cx="38404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1D3152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264408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t>Spring Framework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7968" y="3739896"/>
            <a:ext cx="384048" cy="384048"/>
          </a:xfrm>
          <a:prstGeom prst="roundRect">
            <a:avLst/>
          </a:prstGeom>
          <a:solidFill>
            <a:srgbClr val="E1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87968" y="3831335"/>
            <a:ext cx="38404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1D3152"/>
                </a:solidFill>
                <a:latin typeface="Aptos"/>
              </a:defRPr>
            </a:pPr>
            <a:r>
              <a:t>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831335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t>Spring Boot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4306824"/>
            <a:ext cx="384048" cy="384048"/>
          </a:xfrm>
          <a:prstGeom prst="roundRect">
            <a:avLst/>
          </a:prstGeom>
          <a:solidFill>
            <a:srgbClr val="71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87968" y="4398264"/>
            <a:ext cx="38404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1D3152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4398264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t>Core Java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4800600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CDD9E6"/>
                </a:solidFill>
                <a:latin typeface="Aptos"/>
              </a:defRPr>
            </a:pPr>
            <a:r>
              <a:t>JANUARY –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7A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D7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56248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30" b="1">
                <a:solidFill>
                  <a:srgbClr val="5E6C7D"/>
                </a:solidFill>
                <a:latin typeface="Aptos"/>
              </a:defRPr>
            </a:pPr>
            <a:r>
              <a:t>AICTE • EDUSKILLS • JAVA FULL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52881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1">
                <a:solidFill>
                  <a:srgbClr val="27A5A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657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71B53E"/>
                </a:solidFill>
                <a:latin typeface="Aptos"/>
              </a:defRPr>
            </a:pPr>
            <a:r>
              <a:t>01 /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8580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1D3152"/>
                </a:solidFill>
                <a:latin typeface="Aptos Display"/>
              </a:defRPr>
            </a:pPr>
            <a:r>
              <a:t>Candidate &amp; Internship 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234440"/>
            <a:ext cx="10332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0">
                <a:solidFill>
                  <a:srgbClr val="5E6C7D"/>
                </a:solidFill>
                <a:latin typeface="Aptos"/>
              </a:defRPr>
            </a:pPr>
            <a:r>
              <a:t>A structured overview of the Java Full Stack virtual internship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3337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08760"/>
            <a:ext cx="50292" cy="4389120"/>
          </a:xfrm>
          <a:prstGeom prst="rect">
            <a:avLst/>
          </a:prstGeom>
          <a:solidFill>
            <a:srgbClr val="27A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655063"/>
            <a:ext cx="299008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D3152"/>
                </a:solidFill>
                <a:latin typeface="Aptos"/>
              </a:defRPr>
            </a:pPr>
            <a:r>
              <a:t>CANDIDATE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029967"/>
            <a:ext cx="2990088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0" b="0">
                <a:solidFill>
                  <a:srgbClr val="5E6C7D"/>
                </a:solidFill>
                <a:latin typeface="Aptos"/>
              </a:defRPr>
            </a:pPr>
            <a:r>
              <a:t>NUMAIR NIZAMI</a:t>
            </a:r>
            <a:br/>
            <a:br/>
            <a:r>
              <a:t>AICTE Student ID: STU69e1f231956b81776415281</a:t>
            </a:r>
            <a:br/>
            <a:br/>
            <a:r>
              <a:t>B.Tech Computer Science &amp; Engineering</a:t>
            </a:r>
            <a:br/>
            <a:br/>
            <a:r>
              <a:t>IILM University, Greater Noida</a:t>
            </a:r>
            <a:br/>
            <a:br/>
            <a:r>
              <a:t>Batch: 2024–2028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4528" y="1508760"/>
            <a:ext cx="3337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24528" y="1508760"/>
            <a:ext cx="50292" cy="4389120"/>
          </a:xfrm>
          <a:prstGeom prst="rect">
            <a:avLst/>
          </a:prstGeom>
          <a:solidFill>
            <a:srgbClr val="71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5696" y="1655063"/>
            <a:ext cx="299008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D3152"/>
                </a:solidFill>
                <a:latin typeface="Aptos"/>
              </a:defRPr>
            </a:pPr>
            <a:r>
              <a:t>INTERNSHIP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2029967"/>
            <a:ext cx="2990088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0" b="0">
                <a:solidFill>
                  <a:srgbClr val="5E6C7D"/>
                </a:solidFill>
                <a:latin typeface="Aptos"/>
              </a:defRPr>
            </a:pPr>
            <a:r>
              <a:t>AICTE – EduSkills Virtual Internship</a:t>
            </a:r>
            <a:br/>
            <a:br/>
            <a:r>
              <a:t>Java Full Stack Development With Project</a:t>
            </a:r>
            <a:br/>
            <a:br/>
            <a:r>
              <a:t>8 Weeks</a:t>
            </a:r>
            <a:br/>
            <a:br/>
            <a:r>
              <a:t>January – March 2026</a:t>
            </a:r>
            <a:br/>
            <a:br/>
            <a:r>
              <a:t>Mode: Virtual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08975" y="150876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08975" y="1508760"/>
            <a:ext cx="50292" cy="4389120"/>
          </a:xfrm>
          <a:prstGeom prst="rect">
            <a:avLst/>
          </a:prstGeom>
          <a:solidFill>
            <a:srgbClr val="E1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0144" y="1655063"/>
            <a:ext cx="30815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D3152"/>
                </a:solidFill>
                <a:latin typeface="Aptos"/>
              </a:defRPr>
            </a:pPr>
            <a:r>
              <a:t>PROGRAM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2029967"/>
            <a:ext cx="3081528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0" b="0">
                <a:solidFill>
                  <a:srgbClr val="5E6C7D"/>
                </a:solidFill>
                <a:latin typeface="Aptos"/>
              </a:defRPr>
            </a:pPr>
            <a:r>
              <a:t>EduSkills Academy</a:t>
            </a:r>
            <a:br/>
            <a:br/>
            <a:r>
              <a:t>Mentor: Sagarabala Behera</a:t>
            </a:r>
            <a:br/>
            <a:br/>
            <a:r>
              <a:t>AICTE Student ID:</a:t>
            </a:r>
            <a:br/>
            <a:r>
              <a:t>STU69e1f231956b81776415281</a:t>
            </a:r>
            <a:br/>
            <a:br/>
            <a:r>
              <a:t>Project-based learning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24528" y="6053328"/>
            <a:ext cx="7013448" cy="109728"/>
          </a:xfrm>
          <a:prstGeom prst="rect">
            <a:avLst/>
          </a:prstGeom>
          <a:solidFill>
            <a:srgbClr val="1D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7A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D7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56248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30" b="1">
                <a:solidFill>
                  <a:srgbClr val="5E6C7D"/>
                </a:solidFill>
                <a:latin typeface="Aptos"/>
              </a:defRPr>
            </a:pPr>
            <a:r>
              <a:t>AICTE • EDUSKILLS • JAVA FULL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52881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1">
                <a:solidFill>
                  <a:srgbClr val="27A5A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657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71B53E"/>
                </a:solidFill>
                <a:latin typeface="Aptos"/>
              </a:defRPr>
            </a:pPr>
            <a:r>
              <a:t>02 /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8580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1D3152"/>
                </a:solidFill>
                <a:latin typeface="Aptos Display"/>
              </a:defRPr>
            </a:pPr>
            <a:r>
              <a:t>Why the internship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234440"/>
            <a:ext cx="10332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0">
                <a:solidFill>
                  <a:srgbClr val="5E6C7D"/>
                </a:solidFill>
                <a:latin typeface="Aptos"/>
              </a:defRPr>
            </a:pPr>
            <a:r>
              <a:t>The program connects web fundamentals, Java programming, enterprise frameworks and database technologies.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00200"/>
            <a:ext cx="4663440" cy="4297680"/>
          </a:xfrm>
          <a:prstGeom prst="roundRect">
            <a:avLst/>
          </a:prstGeom>
          <a:solidFill>
            <a:srgbClr val="1D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6596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71B53E"/>
                </a:solidFill>
                <a:latin typeface="Aptos"/>
              </a:defRPr>
            </a:pPr>
            <a:r>
              <a:t>THE SHIFT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95728"/>
            <a:ext cx="38862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From learning</a:t>
            </a:r>
            <a:br/>
            <a:r>
              <a:t>individual tools</a:t>
            </a:r>
            <a:br/>
            <a:r>
              <a:t>to understanding the system.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160520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CAD6E4"/>
                </a:solidFill>
                <a:latin typeface="Aptos"/>
              </a:defRPr>
            </a:pPr>
            <a:r>
              <a:t>Frontend + Java + enterprise frameworks + persistence + version control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1600200"/>
            <a:ext cx="2743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1600200"/>
            <a:ext cx="50292" cy="1874519"/>
          </a:xfrm>
          <a:prstGeom prst="rect">
            <a:avLst/>
          </a:prstGeom>
          <a:solidFill>
            <a:srgbClr val="27A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79007" y="1746504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D3152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79007" y="2121408"/>
            <a:ext cx="2395728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0" b="0">
                <a:solidFill>
                  <a:srgbClr val="5E6C7D"/>
                </a:solidFill>
                <a:latin typeface="Aptos"/>
              </a:defRPr>
            </a:pPr>
            <a:r>
              <a:t>HTML • CSS • Bootstrap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1600200"/>
            <a:ext cx="2743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03920" y="1600200"/>
            <a:ext cx="50292" cy="1874519"/>
          </a:xfrm>
          <a:prstGeom prst="rect">
            <a:avLst/>
          </a:prstGeom>
          <a:solidFill>
            <a:srgbClr val="71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05088" y="1746504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D3152"/>
                </a:solidFill>
                <a:latin typeface="Aptos"/>
              </a:defRPr>
            </a:pPr>
            <a:r>
              <a:t>CONNECT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2121408"/>
            <a:ext cx="2395728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0" b="0">
                <a:solidFill>
                  <a:srgbClr val="5E6C7D"/>
                </a:solidFill>
                <a:latin typeface="Aptos"/>
              </a:defRPr>
            </a:pPr>
            <a:r>
              <a:t>JavaScript • jQuery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77840" y="3703320"/>
            <a:ext cx="2743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77840" y="3703320"/>
            <a:ext cx="50292" cy="1874519"/>
          </a:xfrm>
          <a:prstGeom prst="rect">
            <a:avLst/>
          </a:prstGeom>
          <a:solidFill>
            <a:srgbClr val="E1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79007" y="3849624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D3152"/>
                </a:solidFill>
                <a:latin typeface="Aptos"/>
              </a:defRPr>
            </a:pPr>
            <a:r>
              <a:t>PERSIST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79007" y="4224528"/>
            <a:ext cx="2395728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0" b="0">
                <a:solidFill>
                  <a:srgbClr val="5E6C7D"/>
                </a:solidFill>
                <a:latin typeface="Aptos"/>
              </a:defRPr>
            </a:pPr>
            <a:r>
              <a:t>Hibernate • MySQL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0" y="3703320"/>
            <a:ext cx="2743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03920" y="3703320"/>
            <a:ext cx="50292" cy="1874519"/>
          </a:xfrm>
          <a:prstGeom prst="rect">
            <a:avLst/>
          </a:prstGeom>
          <a:solidFill>
            <a:srgbClr val="3D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05088" y="3849624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D3152"/>
                </a:solidFill>
                <a:latin typeface="Aptos"/>
              </a:defRPr>
            </a:pPr>
            <a:r>
              <a:t>SECURE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05088" y="4224528"/>
            <a:ext cx="2395728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0" b="0">
                <a:solidFill>
                  <a:srgbClr val="5E6C7D"/>
                </a:solidFill>
                <a:latin typeface="Aptos"/>
              </a:defRPr>
            </a:pPr>
            <a:r>
              <a:t>Spring • Spring Boot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7A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71B53E"/>
                </a:solidFill>
                <a:latin typeface="Aptos"/>
              </a:defRPr>
            </a:pPr>
            <a:r>
              <a:t>03 /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1D3152"/>
                </a:solidFill>
                <a:latin typeface="Aptos Display"/>
              </a:defRPr>
            </a:pPr>
            <a:r>
              <a:t>JAVA Stack &amp; Supporting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34440"/>
            <a:ext cx="10332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0">
                <a:solidFill>
                  <a:srgbClr val="5E6C7D"/>
                </a:solidFill>
                <a:latin typeface="Aptos"/>
              </a:defRPr>
            </a:pPr>
            <a:r>
              <a:t>The documented curriculum, presented as a connected Java Full Stack ecosystem.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36592" y="1901952"/>
            <a:ext cx="2743200" cy="2514600"/>
          </a:xfrm>
          <a:prstGeom prst="roundRect">
            <a:avLst/>
          </a:prstGeom>
          <a:solidFill>
            <a:srgbClr val="1D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83480" y="216712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J A V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1768" y="278892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MySQL</a:t>
            </a:r>
            <a:br/>
            <a:r>
              <a:t>Spring Framework</a:t>
            </a:r>
            <a:br/>
            <a:r>
              <a:t>Spring Boot</a:t>
            </a:r>
            <a:br/>
            <a:r>
              <a:t>Core Java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333756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50292" cy="1207008"/>
          </a:xfrm>
          <a:prstGeom prst="rect">
            <a:avLst/>
          </a:prstGeom>
          <a:solidFill>
            <a:srgbClr val="27A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865376"/>
            <a:ext cx="299008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D3152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240279"/>
            <a:ext cx="299008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0" b="0">
                <a:solidFill>
                  <a:srgbClr val="5E6C7D"/>
                </a:solidFill>
                <a:latin typeface="Aptos"/>
              </a:defRPr>
            </a:pPr>
            <a:r>
              <a:t>HTML • CSS • JavaScript • jQuery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246120"/>
            <a:ext cx="333756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3246120"/>
            <a:ext cx="50292" cy="1207008"/>
          </a:xfrm>
          <a:prstGeom prst="rect">
            <a:avLst/>
          </a:prstGeom>
          <a:solidFill>
            <a:srgbClr val="71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392424"/>
            <a:ext cx="299008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D3152"/>
                </a:solidFill>
                <a:latin typeface="Aptos"/>
              </a:defRPr>
            </a:pPr>
            <a:r>
              <a:t>STATE &amp;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3767328"/>
            <a:ext cx="299008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0" b="0">
                <a:solidFill>
                  <a:srgbClr val="5E6C7D"/>
                </a:solidFill>
                <a:latin typeface="Aptos"/>
              </a:defRPr>
            </a:pPr>
            <a:r>
              <a:t>OOP • Collections • Exception Handling • File Handling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719072"/>
            <a:ext cx="333756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2" y="1719072"/>
            <a:ext cx="50292" cy="1207008"/>
          </a:xfrm>
          <a:prstGeom prst="rect">
            <a:avLst/>
          </a:prstGeom>
          <a:solidFill>
            <a:srgbClr val="3D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865376"/>
            <a:ext cx="299008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D3152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240279"/>
            <a:ext cx="299008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0" b="0">
                <a:solidFill>
                  <a:srgbClr val="5E6C7D"/>
                </a:solidFill>
                <a:latin typeface="Aptos"/>
              </a:defRPr>
            </a:pPr>
            <a:r>
              <a:t>JDBC • Servlets • Multithreading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2" y="3246120"/>
            <a:ext cx="333756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19872" y="3246120"/>
            <a:ext cx="50292" cy="1207008"/>
          </a:xfrm>
          <a:prstGeom prst="rect">
            <a:avLst/>
          </a:prstGeom>
          <a:solidFill>
            <a:srgbClr val="E1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392424"/>
            <a:ext cx="299008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D3152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767328"/>
            <a:ext cx="299008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0" b="0">
                <a:solidFill>
                  <a:srgbClr val="5E6C7D"/>
                </a:solidFill>
                <a:latin typeface="Aptos"/>
              </a:defRPr>
            </a:pPr>
            <a:r>
              <a:t>Hibernate • MySQL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33087" y="4864608"/>
            <a:ext cx="393192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33087" y="4864608"/>
            <a:ext cx="50292" cy="896112"/>
          </a:xfrm>
          <a:prstGeom prst="rect">
            <a:avLst/>
          </a:prstGeom>
          <a:solidFill>
            <a:srgbClr val="27A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34255" y="5010912"/>
            <a:ext cx="358444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D3152"/>
                </a:solidFill>
                <a:latin typeface="Aptos"/>
              </a:defRPr>
            </a:pPr>
            <a:r>
              <a:t>API &amp;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34255" y="5385816"/>
            <a:ext cx="358444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0" b="0">
                <a:solidFill>
                  <a:srgbClr val="5E6C7D"/>
                </a:solidFill>
                <a:latin typeface="Aptos"/>
              </a:defRPr>
            </a:pPr>
            <a:r>
              <a:t>Spring Boot • Git / GitHub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995928" y="2322576"/>
            <a:ext cx="740664" cy="0"/>
          </a:xfrm>
          <a:prstGeom prst="line">
            <a:avLst/>
          </a:prstGeom>
          <a:ln w="25400">
            <a:solidFill>
              <a:srgbClr val="27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995928" y="3840480"/>
            <a:ext cx="740664" cy="0"/>
          </a:xfrm>
          <a:prstGeom prst="line">
            <a:avLst/>
          </a:prstGeom>
          <a:ln w="25400">
            <a:solidFill>
              <a:srgbClr val="71B5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479792" y="2322576"/>
            <a:ext cx="640080" cy="0"/>
          </a:xfrm>
          <a:prstGeom prst="line">
            <a:avLst/>
          </a:prstGeom>
          <a:ln w="25400">
            <a:solidFill>
              <a:srgbClr val="3D74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79792" y="3840480"/>
            <a:ext cx="640080" cy="0"/>
          </a:xfrm>
          <a:prstGeom prst="line">
            <a:avLst/>
          </a:prstGeom>
          <a:ln w="25400">
            <a:solidFill>
              <a:srgbClr val="E199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108192" y="4416552"/>
            <a:ext cx="0" cy="448056"/>
          </a:xfrm>
          <a:prstGeom prst="line">
            <a:avLst/>
          </a:prstGeom>
          <a:ln w="25400">
            <a:solidFill>
              <a:srgbClr val="27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21792" y="6556248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30" b="1">
                <a:solidFill>
                  <a:srgbClr val="5E6C7D"/>
                </a:solidFill>
                <a:latin typeface="Aptos"/>
              </a:defRPr>
            </a:pPr>
            <a:r>
              <a:t>AICTE • EDUSKILLS • JAVA FULL STACK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18520" y="652881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1">
                <a:solidFill>
                  <a:srgbClr val="27A5AB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7A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D7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56248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30" b="1">
                <a:solidFill>
                  <a:srgbClr val="5E6C7D"/>
                </a:solidFill>
                <a:latin typeface="Aptos"/>
              </a:defRPr>
            </a:pPr>
            <a:r>
              <a:t>AICTE • EDUSKILLS • JAVA FULL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52881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1">
                <a:solidFill>
                  <a:srgbClr val="27A5A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657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71B53E"/>
                </a:solidFill>
                <a:latin typeface="Aptos"/>
              </a:defRPr>
            </a:pPr>
            <a:r>
              <a:t>04 /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8580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1D3152"/>
                </a:solidFill>
                <a:latin typeface="Aptos Display"/>
              </a:defRPr>
            </a:pPr>
            <a:r>
              <a:t>How a JAVA request moves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234440"/>
            <a:ext cx="10332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0">
                <a:solidFill>
                  <a:srgbClr val="5E6C7D"/>
                </a:solidFill>
                <a:latin typeface="Aptos"/>
              </a:defRPr>
            </a:pPr>
            <a:r>
              <a:t>A conceptual learning flow based only on the technologies documented in the internship materials.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57400"/>
            <a:ext cx="1691640" cy="777240"/>
          </a:xfrm>
          <a:prstGeom prst="roundRect">
            <a:avLst/>
          </a:prstGeom>
          <a:solidFill>
            <a:srgbClr val="1D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2221992"/>
            <a:ext cx="161848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USER /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057400"/>
            <a:ext cx="1737360" cy="777240"/>
          </a:xfrm>
          <a:prstGeom prst="roundRect">
            <a:avLst/>
          </a:prstGeom>
          <a:solidFill>
            <a:srgbClr val="27A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9776" y="2221992"/>
            <a:ext cx="1664207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HTML • CSS • 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2057400"/>
            <a:ext cx="1737360" cy="777240"/>
          </a:xfrm>
          <a:prstGeom prst="roundRect">
            <a:avLst/>
          </a:prstGeom>
          <a:solidFill>
            <a:srgbClr val="3D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74336" y="2221992"/>
            <a:ext cx="1664207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JDBC / APIs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2057400"/>
            <a:ext cx="1737360" cy="777240"/>
          </a:xfrm>
          <a:prstGeom prst="roundRect">
            <a:avLst/>
          </a:prstGeom>
          <a:solidFill>
            <a:srgbClr val="1D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68896" y="2221992"/>
            <a:ext cx="1664207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SPRING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2057400"/>
            <a:ext cx="1920240" cy="777240"/>
          </a:xfrm>
          <a:prstGeom prst="roundRect">
            <a:avLst/>
          </a:prstGeom>
          <a:solidFill>
            <a:srgbClr val="E1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63455" y="2221992"/>
            <a:ext cx="184708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MYSQL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31720" y="2450592"/>
            <a:ext cx="411480" cy="0"/>
          </a:xfrm>
          <a:prstGeom prst="line">
            <a:avLst/>
          </a:prstGeom>
          <a:ln w="25400">
            <a:solidFill>
              <a:srgbClr val="71B5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480560" y="2450592"/>
            <a:ext cx="457200" cy="0"/>
          </a:xfrm>
          <a:prstGeom prst="line">
            <a:avLst/>
          </a:prstGeom>
          <a:ln w="25400">
            <a:solidFill>
              <a:srgbClr val="71B5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675120" y="2450592"/>
            <a:ext cx="457200" cy="0"/>
          </a:xfrm>
          <a:prstGeom prst="line">
            <a:avLst/>
          </a:prstGeom>
          <a:ln w="25400">
            <a:solidFill>
              <a:srgbClr val="71B5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869680" y="2450592"/>
            <a:ext cx="457200" cy="0"/>
          </a:xfrm>
          <a:prstGeom prst="line">
            <a:avLst/>
          </a:prstGeom>
          <a:ln w="25400">
            <a:solidFill>
              <a:srgbClr val="71B5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743200" y="3703320"/>
            <a:ext cx="1737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703320"/>
            <a:ext cx="50292" cy="914400"/>
          </a:xfrm>
          <a:prstGeom prst="rect">
            <a:avLst/>
          </a:prstGeom>
          <a:solidFill>
            <a:srgbClr val="71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44368" y="3849624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D3152"/>
                </a:solidFill>
                <a:latin typeface="Aptos"/>
              </a:defRPr>
            </a:pPr>
            <a:r>
              <a:t>WEB LOGIC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44368" y="4224528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0" b="0">
                <a:solidFill>
                  <a:srgbClr val="5E6C7D"/>
                </a:solidFill>
                <a:latin typeface="Aptos"/>
              </a:defRPr>
            </a:pPr>
            <a:r>
              <a:t>JavaScript / jQuery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37760" y="3703320"/>
            <a:ext cx="1737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0" y="3703320"/>
            <a:ext cx="50292" cy="914400"/>
          </a:xfrm>
          <a:prstGeom prst="rect">
            <a:avLst/>
          </a:prstGeom>
          <a:solidFill>
            <a:srgbClr val="E1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38928" y="3849624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D3152"/>
                </a:solidFill>
                <a:latin typeface="Aptos"/>
              </a:defRPr>
            </a:pPr>
            <a:r>
              <a:t>ENTERPRISE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38928" y="4224528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0" b="0">
                <a:solidFill>
                  <a:srgbClr val="5E6C7D"/>
                </a:solidFill>
                <a:latin typeface="Aptos"/>
              </a:defRPr>
            </a:pPr>
            <a:r>
              <a:t>Spring / Spring Boot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0" y="3703320"/>
            <a:ext cx="1737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0" y="3703320"/>
            <a:ext cx="50292" cy="914400"/>
          </a:xfrm>
          <a:prstGeom prst="rect">
            <a:avLst/>
          </a:prstGeom>
          <a:solidFill>
            <a:srgbClr val="27A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33488" y="3849624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D3152"/>
                </a:solidFill>
                <a:latin typeface="Aptos"/>
              </a:defRPr>
            </a:pPr>
            <a:r>
              <a:t>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33488" y="4224528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0" b="0">
                <a:solidFill>
                  <a:srgbClr val="5E6C7D"/>
                </a:solidFill>
                <a:latin typeface="Aptos"/>
              </a:defRPr>
            </a:pPr>
            <a:r>
              <a:t>Hibernate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303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1D3152"/>
                </a:solidFill>
                <a:latin typeface="Aptos"/>
              </a:defRPr>
            </a:pPr>
            <a:r>
              <a:t>Presentation  →  Java Logic  →  Framework Layer  →  Persistence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7A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D7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56248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30" b="1">
                <a:solidFill>
                  <a:srgbClr val="5E6C7D"/>
                </a:solidFill>
                <a:latin typeface="Aptos"/>
              </a:defRPr>
            </a:pPr>
            <a:r>
              <a:t>AICTE • EDUSKILLS • JAVA FULL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52881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1">
                <a:solidFill>
                  <a:srgbClr val="27A5A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657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71B53E"/>
                </a:solidFill>
                <a:latin typeface="Aptos"/>
              </a:defRPr>
            </a:pPr>
            <a:r>
              <a:t>05 / LEARNING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8580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1D3152"/>
                </a:solidFill>
                <a:latin typeface="Aptos Display"/>
              </a:defRPr>
            </a:pPr>
            <a:r>
              <a:t>Internship learning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234440"/>
            <a:ext cx="10332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0">
                <a:solidFill>
                  <a:srgbClr val="5E6C7D"/>
                </a:solidFill>
                <a:latin typeface="Aptos"/>
              </a:defRPr>
            </a:pPr>
            <a:r>
              <a:t>A progressive journey from web fundamentals to enterprise Java and database technologies.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063240"/>
            <a:ext cx="10241280" cy="45720"/>
          </a:xfrm>
          <a:prstGeom prst="rect">
            <a:avLst/>
          </a:prstGeom>
          <a:solidFill>
            <a:srgbClr val="D7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816352"/>
            <a:ext cx="475488" cy="475488"/>
          </a:xfrm>
          <a:prstGeom prst="roundRect">
            <a:avLst/>
          </a:prstGeom>
          <a:solidFill>
            <a:srgbClr val="27A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26771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27A5AB"/>
                </a:solidFill>
                <a:latin typeface="Aptos"/>
              </a:defRPr>
            </a:pPr>
            <a:r>
              <a:t>01–02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9359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9" b="1">
                <a:solidFill>
                  <a:srgbClr val="1D3152"/>
                </a:solidFill>
                <a:latin typeface="Aptos"/>
              </a:defRPr>
            </a:pPr>
            <a:r>
              <a:t>WEB FOUNDATIONS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86784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5E6C7D"/>
                </a:solidFill>
                <a:latin typeface="Aptos"/>
              </a:defRPr>
            </a:pPr>
            <a:r>
              <a:t>JavaScript</a:t>
            </a:r>
            <a:br/>
            <a:r>
              <a:t>Spring Boot &amp; Hooks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816352"/>
            <a:ext cx="475488" cy="475488"/>
          </a:xfrm>
          <a:prstGeom prst="roundRect">
            <a:avLst/>
          </a:prstGeom>
          <a:solidFill>
            <a:srgbClr val="71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8808" y="226771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71B53E"/>
                </a:solidFill>
                <a:latin typeface="Aptos"/>
              </a:defRPr>
            </a:pPr>
            <a:r>
              <a:t>03–04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59359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9" b="1">
                <a:solidFill>
                  <a:srgbClr val="1D3152"/>
                </a:solidFill>
                <a:latin typeface="Aptos"/>
              </a:defRPr>
            </a:pPr>
            <a:r>
              <a:t>SCRIPTING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986784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5E6C7D"/>
                </a:solidFill>
                <a:latin typeface="Aptos"/>
              </a:defRPr>
            </a:pPr>
            <a:r>
              <a:t>Context / Redux</a:t>
            </a:r>
            <a:br/>
            <a:r>
              <a:t>Router + Tailwind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2816352"/>
            <a:ext cx="475488" cy="475488"/>
          </a:xfrm>
          <a:prstGeom prst="roundRect">
            <a:avLst/>
          </a:prstGeom>
          <a:solidFill>
            <a:srgbClr val="E1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7808" y="226771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E19941"/>
                </a:solidFill>
                <a:latin typeface="Aptos"/>
              </a:defRPr>
            </a:pPr>
            <a:r>
              <a:t>05–06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59359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9" b="1">
                <a:solidFill>
                  <a:srgbClr val="1D3152"/>
                </a:solidFill>
                <a:latin typeface="Aptos"/>
              </a:defRPr>
            </a:pPr>
            <a:r>
              <a:t>JAVA DEVELOPMENT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3986784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5E6C7D"/>
                </a:solidFill>
                <a:latin typeface="Aptos"/>
              </a:defRPr>
            </a:pPr>
            <a:r>
              <a:t>Node / Express</a:t>
            </a:r>
            <a:br/>
            <a:r>
              <a:t>MySQL / REST / JWT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201400" y="2816352"/>
            <a:ext cx="475488" cy="475488"/>
          </a:xfrm>
          <a:prstGeom prst="roundRect">
            <a:avLst/>
          </a:prstGeom>
          <a:solidFill>
            <a:srgbClr val="3D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36808" y="226771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3D74AB"/>
                </a:solidFill>
                <a:latin typeface="Aptos"/>
              </a:defRPr>
            </a:pPr>
            <a:r>
              <a:t>07–08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359359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9" b="1">
                <a:solidFill>
                  <a:srgbClr val="1D3152"/>
                </a:solidFill>
                <a:latin typeface="Aptos"/>
              </a:defRPr>
            </a:pPr>
            <a:r>
              <a:t>ENTERPRISE + 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3986784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5E6C7D"/>
                </a:solidFill>
                <a:latin typeface="Aptos"/>
              </a:defRPr>
            </a:pPr>
            <a:r>
              <a:t>Git / Deployment</a:t>
            </a:r>
            <a:br/>
            <a:r>
              <a:t>Hibernate / MySQL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7A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71B53E"/>
                </a:solidFill>
                <a:latin typeface="Aptos"/>
              </a:defRPr>
            </a:pPr>
            <a:r>
              <a:t>06 / LEARNING FOCUS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1D3152"/>
                </a:solidFill>
                <a:latin typeface="Aptos Display"/>
              </a:defRPr>
            </a:pPr>
            <a:r>
              <a:t>Core Java &amp; Advanced 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34440"/>
            <a:ext cx="10332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0">
                <a:solidFill>
                  <a:srgbClr val="5E6C7D"/>
                </a:solidFill>
                <a:latin typeface="Aptos"/>
              </a:defRPr>
            </a:pPr>
            <a:r>
              <a:t>The internship curriculum covered Java programming fundamentals and advanced enterprise-oriented concepts.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3383280" cy="4370832"/>
          </a:xfrm>
          <a:prstGeom prst="roundRect">
            <a:avLst/>
          </a:prstGeom>
          <a:solidFill>
            <a:srgbClr val="1D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68AD37"/>
                </a:solidFill>
                <a:latin typeface="Aptos"/>
              </a:defRPr>
            </a:pPr>
            <a:r>
              <a:t>DOCUMENTED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95728"/>
            <a:ext cx="27889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OOP • Collections • Exception Handling • File Handling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033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27A5AB"/>
                </a:solidFill>
                <a:latin typeface="Aptos"/>
              </a:defRPr>
            </a:pPr>
            <a:r>
              <a:t>ADVANCED JAVA TOPICS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096512"/>
            <a:ext cx="27432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CAD6E4"/>
                </a:solidFill>
                <a:latin typeface="Aptos"/>
              </a:defRPr>
            </a:pPr>
            <a:r>
              <a:t>• Random short-ID generation</a:t>
            </a:r>
            <a:br/>
            <a:r>
              <a:t>• URL mapping / retrieval</a:t>
            </a:r>
            <a:br/>
            <a:r>
              <a:t>• Duplicate handling</a:t>
            </a:r>
            <a:br/>
            <a:r>
              <a:t>• Exportable mapping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176479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71B53E"/>
                </a:solidFill>
                <a:latin typeface="Aptos"/>
              </a:defRPr>
            </a:pPr>
            <a:r>
              <a:t>LEARNING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395728"/>
            <a:ext cx="1261872" cy="685800"/>
          </a:xfrm>
          <a:prstGeom prst="roundRect">
            <a:avLst/>
          </a:prstGeom>
          <a:solidFill>
            <a:srgbClr val="27A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1416" y="2560320"/>
            <a:ext cx="118871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JAVA BASICS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96712" y="2738628"/>
            <a:ext cx="365760" cy="0"/>
          </a:xfrm>
          <a:prstGeom prst="line">
            <a:avLst/>
          </a:prstGeom>
          <a:ln w="25400">
            <a:solidFill>
              <a:srgbClr val="71B5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062472" y="2395728"/>
            <a:ext cx="1261872" cy="685800"/>
          </a:xfrm>
          <a:prstGeom prst="roundRect">
            <a:avLst/>
          </a:prstGeom>
          <a:solidFill>
            <a:srgbClr val="71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8" y="2560320"/>
            <a:ext cx="118871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1D3152"/>
                </a:solidFill>
                <a:latin typeface="Aptos"/>
              </a:defRPr>
            </a:pPr>
            <a:r>
              <a:t>ADVANCED JAVA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24344" y="2738628"/>
            <a:ext cx="365760" cy="0"/>
          </a:xfrm>
          <a:prstGeom prst="line">
            <a:avLst/>
          </a:prstGeom>
          <a:ln w="25400">
            <a:solidFill>
              <a:srgbClr val="71B5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690104" y="2395728"/>
            <a:ext cx="1261872" cy="685800"/>
          </a:xfrm>
          <a:prstGeom prst="roundRect">
            <a:avLst/>
          </a:prstGeom>
          <a:solidFill>
            <a:srgbClr val="E1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79" y="2560320"/>
            <a:ext cx="118871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JDBC / SERVLETS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51976" y="2738628"/>
            <a:ext cx="365760" cy="0"/>
          </a:xfrm>
          <a:prstGeom prst="line">
            <a:avLst/>
          </a:prstGeom>
          <a:ln w="25400">
            <a:solidFill>
              <a:srgbClr val="71B5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317736" y="2395728"/>
            <a:ext cx="1261872" cy="685800"/>
          </a:xfrm>
          <a:prstGeom prst="roundRect">
            <a:avLst/>
          </a:prstGeom>
          <a:solidFill>
            <a:srgbClr val="3D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54311" y="2560320"/>
            <a:ext cx="118871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MULTITHREADING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730752"/>
            <a:ext cx="65379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730752"/>
            <a:ext cx="50292" cy="1280160"/>
          </a:xfrm>
          <a:prstGeom prst="rect">
            <a:avLst/>
          </a:prstGeom>
          <a:solidFill>
            <a:srgbClr val="71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7" y="3877056"/>
            <a:ext cx="619048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D3152"/>
                </a:solidFill>
                <a:latin typeface="Aptos"/>
              </a:defRPr>
            </a:pPr>
            <a:r>
              <a:t>LEARNING OUTCOME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7" y="4251960"/>
            <a:ext cx="619048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0" b="0">
                <a:solidFill>
                  <a:srgbClr val="5E6C7D"/>
                </a:solidFill>
                <a:latin typeface="Aptos"/>
              </a:defRPr>
            </a:pPr>
            <a:r>
              <a:t>Stronger understanding of Java programming and enterprise application fundamentals.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5285232"/>
            <a:ext cx="65379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4840" y="5285232"/>
            <a:ext cx="50292" cy="658368"/>
          </a:xfrm>
          <a:prstGeom prst="rect">
            <a:avLst/>
          </a:prstGeom>
          <a:solidFill>
            <a:srgbClr val="27A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36007" y="5431536"/>
            <a:ext cx="619048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D3152"/>
                </a:solidFill>
                <a:latin typeface="Aptos"/>
              </a:defRPr>
            </a:pPr>
            <a:r>
              <a:t>STACK FOCUS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6007" y="5806440"/>
            <a:ext cx="6190488" cy="18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0" b="0">
                <a:solidFill>
                  <a:srgbClr val="5E6C7D"/>
                </a:solidFill>
                <a:latin typeface="Aptos"/>
              </a:defRPr>
            </a:pPr>
            <a:r>
              <a:t>Core Java • Advanced Java • JDBC • Servlets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556248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30" b="1">
                <a:solidFill>
                  <a:srgbClr val="5E6C7D"/>
                </a:solidFill>
                <a:latin typeface="Aptos"/>
              </a:defRPr>
            </a:pPr>
            <a:r>
              <a:t>AICTE • EDUSKILLS • JAVA FULL STACK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18520" y="652881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1">
                <a:solidFill>
                  <a:srgbClr val="27A5AB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7A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71B53E"/>
                </a:solidFill>
                <a:latin typeface="Aptos"/>
              </a:defRPr>
            </a:pPr>
            <a:r>
              <a:t>07 / LEARNING FOCUS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1D3152"/>
                </a:solidFill>
                <a:latin typeface="Aptos Display"/>
              </a:defRPr>
            </a:pPr>
            <a:r>
              <a:t>Spring, Spring Boot &amp; Persistence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34440"/>
            <a:ext cx="10332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0">
                <a:solidFill>
                  <a:srgbClr val="5E6C7D"/>
                </a:solidFill>
                <a:latin typeface="Aptos"/>
              </a:defRPr>
            </a:pPr>
            <a:r>
              <a:t>The major project bringing the JAVA layers together end-to-end.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3246120" cy="437083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50292" cy="4370832"/>
          </a:xfrm>
          <a:prstGeom prst="rect">
            <a:avLst/>
          </a:prstGeom>
          <a:solidFill>
            <a:srgbClr val="27A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65376"/>
            <a:ext cx="289864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D3152"/>
                </a:solidFill>
                <a:latin typeface="Aptos"/>
              </a:defRPr>
            </a:pPr>
            <a:r>
              <a:t>DOCUMENTED TECHNOLOGIES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40279"/>
            <a:ext cx="2898648" cy="3730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0" b="0">
                <a:solidFill>
                  <a:srgbClr val="5E6C7D"/>
                </a:solidFill>
                <a:latin typeface="Aptos"/>
              </a:defRPr>
            </a:pPr>
            <a:r>
              <a:t>User Management</a:t>
            </a:r>
            <a:br/>
            <a:br/>
            <a:r>
              <a:t>Product Catalog</a:t>
            </a:r>
            <a:br/>
            <a:br/>
            <a:r>
              <a:t>Full-stack Integration</a:t>
            </a:r>
            <a:br/>
            <a:br/>
            <a:r>
              <a:t>Database Interaction</a:t>
            </a:r>
            <a:br/>
            <a:br/>
            <a:br/>
            <a:r>
              <a:t>Capstone focus: connecting the application layers.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1600200" cy="713232"/>
          </a:xfrm>
          <a:prstGeom prst="roundRect">
            <a:avLst/>
          </a:prstGeom>
          <a:solidFill>
            <a:srgbClr val="1D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9976" y="1993392"/>
            <a:ext cx="152704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SPRING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828800"/>
            <a:ext cx="1600200" cy="713232"/>
          </a:xfrm>
          <a:prstGeom prst="roundRect">
            <a:avLst/>
          </a:prstGeom>
          <a:solidFill>
            <a:srgbClr val="27A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993392"/>
            <a:ext cx="152704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SPRING BOOT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828800"/>
            <a:ext cx="1691640" cy="713232"/>
          </a:xfrm>
          <a:prstGeom prst="roundRect">
            <a:avLst/>
          </a:prstGeom>
          <a:solidFill>
            <a:srgbClr val="3D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3336" y="1993392"/>
            <a:ext cx="161848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REST APIs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0" y="2185416"/>
            <a:ext cx="411480" cy="0"/>
          </a:xfrm>
          <a:prstGeom prst="line">
            <a:avLst/>
          </a:prstGeom>
          <a:ln w="25400">
            <a:solidFill>
              <a:srgbClr val="71B5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2185416"/>
            <a:ext cx="411481" cy="0"/>
          </a:xfrm>
          <a:prstGeom prst="line">
            <a:avLst/>
          </a:prstGeom>
          <a:ln w="25400">
            <a:solidFill>
              <a:srgbClr val="71B5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55080" y="3090672"/>
            <a:ext cx="1600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3090672"/>
            <a:ext cx="50292" cy="868680"/>
          </a:xfrm>
          <a:prstGeom prst="rect">
            <a:avLst/>
          </a:prstGeom>
          <a:solidFill>
            <a:srgbClr val="71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3236976"/>
            <a:ext cx="1252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D3152"/>
                </a:solidFill>
                <a:latin typeface="Aptos"/>
              </a:defRPr>
            </a:pPr>
            <a:r>
              <a:t>HIBERNATE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3611879"/>
            <a:ext cx="12527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0" b="0">
                <a:solidFill>
                  <a:srgbClr val="5E6C7D"/>
                </a:solidFill>
                <a:latin typeface="Aptos"/>
              </a:defRPr>
            </a:pPr>
            <a:r>
              <a:t>ORM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3090672"/>
            <a:ext cx="16916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66760" y="3090672"/>
            <a:ext cx="50292" cy="868680"/>
          </a:xfrm>
          <a:prstGeom prst="rect">
            <a:avLst/>
          </a:prstGeom>
          <a:solidFill>
            <a:srgbClr val="E1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67928" y="3236976"/>
            <a:ext cx="13441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D3152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67928" y="3611879"/>
            <a:ext cx="13441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0" b="0">
                <a:solidFill>
                  <a:srgbClr val="5E6C7D"/>
                </a:solidFill>
                <a:latin typeface="Aptos"/>
              </a:defRPr>
            </a:pPr>
            <a:r>
              <a:t>DATABASE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50608" y="2542032"/>
            <a:ext cx="0" cy="548640"/>
          </a:xfrm>
          <a:prstGeom prst="line">
            <a:avLst/>
          </a:prstGeom>
          <a:ln w="25400">
            <a:solidFill>
              <a:srgbClr val="71B5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208008" y="2542032"/>
            <a:ext cx="0" cy="548640"/>
          </a:xfrm>
          <a:prstGeom prst="line">
            <a:avLst/>
          </a:prstGeom>
          <a:ln w="25400">
            <a:solidFill>
              <a:srgbClr val="71B5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60920" y="4480560"/>
            <a:ext cx="1737360" cy="713232"/>
          </a:xfrm>
          <a:prstGeom prst="roundRect">
            <a:avLst/>
          </a:prstGeom>
          <a:solidFill>
            <a:srgbClr val="E1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97496" y="4645152"/>
            <a:ext cx="1664207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PERSISTENCE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8229600" y="3959352"/>
            <a:ext cx="978408" cy="521208"/>
          </a:xfrm>
          <a:prstGeom prst="line">
            <a:avLst/>
          </a:prstGeom>
          <a:ln w="25400">
            <a:solidFill>
              <a:srgbClr val="71B5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343400" y="5440680"/>
            <a:ext cx="5715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1D3152"/>
                </a:solidFill>
                <a:latin typeface="Aptos"/>
              </a:defRPr>
            </a:pPr>
            <a:r>
              <a:t>Java Application  →  ORM  →  Relational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556248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30" b="1">
                <a:solidFill>
                  <a:srgbClr val="5E6C7D"/>
                </a:solidFill>
                <a:latin typeface="Aptos"/>
              </a:defRPr>
            </a:pPr>
            <a:r>
              <a:t>AICTE • EDUSKILLS • JAVA FULL STACK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2881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1">
                <a:solidFill>
                  <a:srgbClr val="27A5AB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7A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D7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56248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30" b="1">
                <a:solidFill>
                  <a:srgbClr val="5E6C7D"/>
                </a:solidFill>
                <a:latin typeface="Aptos"/>
              </a:defRPr>
            </a:pPr>
            <a:r>
              <a:t>AICTE • EDUSKILLS • JAVA FULL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52881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1">
                <a:solidFill>
                  <a:srgbClr val="27A5A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657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71B53E"/>
                </a:solidFill>
                <a:latin typeface="Aptos"/>
              </a:defRPr>
            </a:pPr>
            <a:r>
              <a:t>08 /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8580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1D3152"/>
                </a:solidFill>
                <a:latin typeface="Aptos Display"/>
              </a:defRPr>
            </a:pPr>
            <a:r>
              <a:t>Technical Skills Developed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234440"/>
            <a:ext cx="10332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0">
                <a:solidFill>
                  <a:srgbClr val="5E6C7D"/>
                </a:solidFill>
                <a:latin typeface="Aptos"/>
              </a:defRPr>
            </a:pPr>
            <a:r>
              <a:t>Practical capabilities documented across the Java Full Stack internship curriculum.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00200"/>
            <a:ext cx="5166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00200"/>
            <a:ext cx="50292" cy="1097280"/>
          </a:xfrm>
          <a:prstGeom prst="rect">
            <a:avLst/>
          </a:prstGeom>
          <a:solidFill>
            <a:srgbClr val="27A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746504"/>
            <a:ext cx="481888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D3152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121408"/>
            <a:ext cx="48188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0" b="0">
                <a:solidFill>
                  <a:srgbClr val="5E6C7D"/>
                </a:solidFill>
                <a:latin typeface="Aptos"/>
              </a:defRPr>
            </a:pPr>
            <a:r>
              <a:t>HTML • CSS • Bootstrap • responsive 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600200"/>
            <a:ext cx="5166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1600200"/>
            <a:ext cx="50292" cy="1097280"/>
          </a:xfrm>
          <a:prstGeom prst="rect">
            <a:avLst/>
          </a:prstGeom>
          <a:solidFill>
            <a:srgbClr val="71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5" y="1746504"/>
            <a:ext cx="481888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D3152"/>
                </a:solidFill>
                <a:latin typeface="Aptos"/>
              </a:defRPr>
            </a:pPr>
            <a:r>
              <a:t>Scripting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5" y="2121408"/>
            <a:ext cx="48188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0" b="0">
                <a:solidFill>
                  <a:srgbClr val="5E6C7D"/>
                </a:solidFill>
                <a:latin typeface="Aptos"/>
              </a:defRPr>
            </a:pPr>
            <a:r>
              <a:t>JavaScript • jQuery • DOM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971800"/>
            <a:ext cx="5166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2971800"/>
            <a:ext cx="50292" cy="1097280"/>
          </a:xfrm>
          <a:prstGeom prst="rect">
            <a:avLst/>
          </a:prstGeom>
          <a:solidFill>
            <a:srgbClr val="3D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118104"/>
            <a:ext cx="481888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D3152"/>
                </a:solidFill>
                <a:latin typeface="Aptos"/>
              </a:defRPr>
            </a:pPr>
            <a:r>
              <a:t>Java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3493008"/>
            <a:ext cx="48188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0" b="0">
                <a:solidFill>
                  <a:srgbClr val="5E6C7D"/>
                </a:solidFill>
                <a:latin typeface="Aptos"/>
              </a:defRPr>
            </a:pPr>
            <a:r>
              <a:t>Core Java • Advanced Java • JDBC • Servlets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971800"/>
            <a:ext cx="5166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971800"/>
            <a:ext cx="50292" cy="1097280"/>
          </a:xfrm>
          <a:prstGeom prst="rect">
            <a:avLst/>
          </a:prstGeom>
          <a:solidFill>
            <a:srgbClr val="E1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5" y="3118104"/>
            <a:ext cx="481888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D3152"/>
                </a:solidFill>
                <a:latin typeface="Aptos"/>
              </a:defRPr>
            </a:pPr>
            <a:r>
              <a:t>Persistence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5" y="3493008"/>
            <a:ext cx="48188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0" b="0">
                <a:solidFill>
                  <a:srgbClr val="5E6C7D"/>
                </a:solidFill>
                <a:latin typeface="Aptos"/>
              </a:defRPr>
            </a:pPr>
            <a:r>
              <a:t>Hibernate • MySQL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343400"/>
            <a:ext cx="5166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4343400"/>
            <a:ext cx="50292" cy="1097280"/>
          </a:xfrm>
          <a:prstGeom prst="rect">
            <a:avLst/>
          </a:prstGeom>
          <a:solidFill>
            <a:srgbClr val="27A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4489704"/>
            <a:ext cx="481888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D3152"/>
                </a:solidFill>
                <a:latin typeface="Aptos"/>
              </a:defRPr>
            </a:pPr>
            <a:r>
              <a:t>Enterprise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4864608"/>
            <a:ext cx="48188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0" b="0">
                <a:solidFill>
                  <a:srgbClr val="5E6C7D"/>
                </a:solidFill>
                <a:latin typeface="Aptos"/>
              </a:defRPr>
            </a:pPr>
            <a:r>
              <a:t>Spring Framework • Spring Boot • REST APIs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0488" y="4343400"/>
            <a:ext cx="5166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0488" y="4343400"/>
            <a:ext cx="50292" cy="1097280"/>
          </a:xfrm>
          <a:prstGeom prst="rect">
            <a:avLst/>
          </a:prstGeom>
          <a:solidFill>
            <a:srgbClr val="71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91655" y="4489704"/>
            <a:ext cx="481888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D3152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5" y="4864608"/>
            <a:ext cx="48188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0" b="0">
                <a:solidFill>
                  <a:srgbClr val="5E6C7D"/>
                </a:solidFill>
                <a:latin typeface="Aptos"/>
              </a:defRPr>
            </a:pPr>
            <a:r>
              <a:t>Git / GitHub • branching • version control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760720"/>
            <a:ext cx="10698480" cy="411480"/>
          </a:xfrm>
          <a:prstGeom prst="roundRect">
            <a:avLst/>
          </a:prstGeom>
          <a:solidFill>
            <a:srgbClr val="1D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870448"/>
            <a:ext cx="10332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80" b="1">
                <a:solidFill>
                  <a:srgbClr val="FFFFFF"/>
                </a:solidFill>
                <a:latin typeface="Aptos"/>
              </a:defRPr>
            </a:pPr>
            <a:r>
              <a:t>RESULT  •  Stronger understanding of Java Full Stack development, enterprise frameworks, persistence and version control.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7A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D7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56248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30" b="1">
                <a:solidFill>
                  <a:srgbClr val="5E6C7D"/>
                </a:solidFill>
                <a:latin typeface="Aptos"/>
              </a:defRPr>
            </a:pPr>
            <a:r>
              <a:t>AICTE • EDUSKILLS • JAVA FULL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52881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1">
                <a:solidFill>
                  <a:srgbClr val="27A5A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657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71B53E"/>
                </a:solidFill>
                <a:latin typeface="Aptos"/>
              </a:defRPr>
            </a:pPr>
            <a:r>
              <a:t>09 / CREDENTIALS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8580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1D3152"/>
                </a:solidFill>
                <a:latin typeface="Aptos Display"/>
              </a:defRPr>
            </a:pPr>
            <a:r>
              <a:t>Internship Completion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234440"/>
            <a:ext cx="10332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0">
                <a:solidFill>
                  <a:srgbClr val="5E6C7D"/>
                </a:solidFill>
                <a:latin typeface="Aptos"/>
              </a:defRPr>
            </a:pPr>
            <a:r>
              <a:t>Key details from the supplied Java internship materials.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00200"/>
            <a:ext cx="50749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00200"/>
            <a:ext cx="50292" cy="4434840"/>
          </a:xfrm>
          <a:prstGeom prst="rect">
            <a:avLst/>
          </a:prstGeom>
          <a:solidFill>
            <a:srgbClr val="27A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746504"/>
            <a:ext cx="472744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D3152"/>
                </a:solidFill>
                <a:latin typeface="Aptos"/>
              </a:defRPr>
            </a:pPr>
            <a:r>
              <a:t>PROGRAM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121408"/>
            <a:ext cx="4727448" cy="3794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0" b="0">
                <a:solidFill>
                  <a:srgbClr val="5E6C7D"/>
                </a:solidFill>
                <a:latin typeface="Aptos"/>
              </a:defRPr>
            </a:pPr>
            <a:r>
              <a:t>Java Full Stack Development With Project</a:t>
            </a:r>
            <a:br/>
            <a:br/>
            <a:r>
              <a:t>EduSkills Academy</a:t>
            </a:r>
            <a:br/>
            <a:br/>
            <a:r>
              <a:t>Mentor: Sagarabala Behera</a:t>
            </a:r>
            <a:br/>
            <a:br/>
            <a:r>
              <a:t>Duration: 8 Weeks</a:t>
            </a:r>
            <a:br/>
            <a:br/>
            <a:r>
              <a:t>Period: January – March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16752" y="1600200"/>
            <a:ext cx="52120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16752" y="1600200"/>
            <a:ext cx="50292" cy="4434840"/>
          </a:xfrm>
          <a:prstGeom prst="rect">
            <a:avLst/>
          </a:prstGeom>
          <a:solidFill>
            <a:srgbClr val="71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746504"/>
            <a:ext cx="486460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D3152"/>
                </a:solidFill>
                <a:latin typeface="Aptos"/>
              </a:defRPr>
            </a:pPr>
            <a:r>
              <a:t>CERTIFICATE DETAILS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121408"/>
            <a:ext cx="4864608" cy="3794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0" b="0">
                <a:solidFill>
                  <a:srgbClr val="5E6C7D"/>
                </a:solidFill>
                <a:latin typeface="Aptos"/>
              </a:defRPr>
            </a:pPr>
            <a:r>
              <a:t>Certificate ID: 2026-2D81EDE71F</a:t>
            </a:r>
            <a:br/>
            <a:br/>
            <a:r>
              <a:t>Issued: 06 April 2026</a:t>
            </a:r>
            <a:br/>
            <a:br/>
            <a:r>
              <a:t>AICTE Student ID:</a:t>
            </a:r>
            <a:br/>
            <a:r>
              <a:t>STU69e1f231956b81776415281</a:t>
            </a:r>
            <a:br/>
            <a:br/>
            <a:r>
              <a:t>IILM University, Greater Noida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6172200"/>
            <a:ext cx="10570464" cy="164592"/>
          </a:xfrm>
          <a:prstGeom prst="rect">
            <a:avLst/>
          </a:prstGeom>
          <a:solidFill>
            <a:srgbClr val="E1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umair_certificate_slid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011" y="0"/>
            <a:ext cx="970167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7A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D7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56248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30" b="1">
                <a:solidFill>
                  <a:srgbClr val="5E6C7D"/>
                </a:solidFill>
                <a:latin typeface="Aptos"/>
              </a:defRPr>
            </a:pPr>
            <a:r>
              <a:t>AICTE • EDUSKILLS • JAVA FULL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52881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1">
                <a:solidFill>
                  <a:srgbClr val="27A5AB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71B53E"/>
                </a:solidFill>
                <a:latin typeface="Aptos"/>
              </a:defRPr>
            </a:pPr>
            <a:r>
              <a:t>FINAL /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77724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1D3152"/>
                </a:solidFill>
                <a:latin typeface="Aptos Display"/>
              </a:defRPr>
            </a:pPr>
            <a:r>
              <a:t>Learn the stack.</a:t>
            </a:r>
            <a:br/>
            <a:r>
              <a:t>Build the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5E6C7D"/>
                </a:solidFill>
                <a:latin typeface="Aptos"/>
              </a:defRPr>
            </a:pPr>
            <a:r>
              <a:t>The internship strengthened practical understanding of Spring Boot, Core Java, Spring Framework, MySQL, APIs, authentication and full-stack project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2240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977639"/>
            <a:ext cx="50292" cy="1188720"/>
          </a:xfrm>
          <a:prstGeom prst="rect">
            <a:avLst/>
          </a:prstGeom>
          <a:solidFill>
            <a:srgbClr val="27A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4123944"/>
            <a:ext cx="189280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D3152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498848"/>
            <a:ext cx="189280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0" b="0">
                <a:solidFill>
                  <a:srgbClr val="5E6C7D"/>
                </a:solidFill>
                <a:latin typeface="Aptos"/>
              </a:defRPr>
            </a:pPr>
            <a:r>
              <a:t>JAVA ecosystem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3977639"/>
            <a:ext cx="2240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3977639"/>
            <a:ext cx="50292" cy="1188720"/>
          </a:xfrm>
          <a:prstGeom prst="rect">
            <a:avLst/>
          </a:prstGeom>
          <a:solidFill>
            <a:srgbClr val="71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4123944"/>
            <a:ext cx="189280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D3152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4498848"/>
            <a:ext cx="189280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0" b="0">
                <a:solidFill>
                  <a:srgbClr val="5E6C7D"/>
                </a:solidFill>
                <a:latin typeface="Aptos"/>
              </a:defRPr>
            </a:pPr>
            <a:r>
              <a:t>Core Java + Enterprise Java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3977639"/>
            <a:ext cx="2240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720" y="3977639"/>
            <a:ext cx="50292" cy="1188720"/>
          </a:xfrm>
          <a:prstGeom prst="rect">
            <a:avLst/>
          </a:prstGeom>
          <a:solidFill>
            <a:srgbClr val="E1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61888" y="4123944"/>
            <a:ext cx="189280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1D3152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1888" y="4498848"/>
            <a:ext cx="189280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0" b="0">
                <a:solidFill>
                  <a:srgbClr val="5E6C7D"/>
                </a:solidFill>
                <a:latin typeface="Aptos"/>
              </a:defRPr>
            </a:pPr>
            <a:r>
              <a:t>Spring + Persistence + Git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41080" y="1325880"/>
            <a:ext cx="2606040" cy="4069080"/>
          </a:xfrm>
          <a:prstGeom prst="roundRect">
            <a:avLst/>
          </a:prstGeom>
          <a:solidFill>
            <a:srgbClr val="1D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400" y="169164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NUMAIR NIZAMI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103120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CDD9E6"/>
                </a:solidFill>
                <a:latin typeface="Aptos"/>
              </a:defRPr>
            </a:pPr>
            <a:r>
              <a:t>STU69e1f231956b81776415281</a:t>
            </a:r>
            <a:br/>
            <a:r>
              <a:t>B.Tech CSE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2926080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1FA6B5"/>
                </a:solidFill>
                <a:latin typeface="Aptos"/>
              </a:defRPr>
            </a:pPr>
            <a:r>
              <a:t>IILM UNIVERSITY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338328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AICTE – EduSkills</a:t>
            </a:r>
            <a:br/>
            <a:r>
              <a:t>Virtual Internship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4315968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1">
                <a:solidFill>
                  <a:srgbClr val="68AD37"/>
                </a:solidFill>
                <a:latin typeface="Aptos"/>
              </a:defRPr>
            </a:pPr>
            <a:r>
              <a:t>JANUARY – MARCH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480060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97880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1">
                <a:solidFill>
                  <a:srgbClr val="71B53E"/>
                </a:solidFill>
                <a:latin typeface="Aptos"/>
              </a:defRPr>
            </a:pPr>
            <a:r>
              <a:t>Java Full Stack Development With Project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960120"/>
            <a:ext cx="73152" cy="4434840"/>
          </a:xfrm>
          <a:prstGeom prst="rect">
            <a:avLst/>
          </a:prstGeom>
          <a:solidFill>
            <a:srgbClr val="71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91440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71B53E"/>
                </a:solidFill>
                <a:latin typeface="Aptos"/>
              </a:defRPr>
            </a:pPr>
            <a:r>
              <a:t>FINAL / TAKEAWAY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79" y="896112"/>
            <a:ext cx="914400" cy="310896"/>
          </a:xfrm>
          <a:prstGeom prst="roundRect">
            <a:avLst/>
          </a:prstGeom>
          <a:solidFill>
            <a:srgbClr val="27A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79" y="978408"/>
            <a:ext cx="914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5440680"/>
            <a:ext cx="7132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1">
                <a:solidFill>
                  <a:srgbClr val="5E6C7D"/>
                </a:solidFill>
                <a:latin typeface="Aptos"/>
              </a:defRPr>
            </a:pPr>
            <a:r>
              <a:t>JAVA • PROJECT-BASED LEARNING • FULL-STACK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